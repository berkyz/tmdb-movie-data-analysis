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14400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48CAE4"/>
                </a:solidFill>
              </a:defRPr>
            </a:pPr>
            <a:r>
              <a:rPr dirty="0"/>
              <a:t>TMDB Film </a:t>
            </a:r>
            <a:r>
              <a:rPr dirty="0" err="1"/>
              <a:t>Hasılat</a:t>
            </a:r>
            <a:r>
              <a:rPr dirty="0"/>
              <a:t> </a:t>
            </a:r>
            <a:r>
              <a:rPr dirty="0" err="1"/>
              <a:t>Analizi</a:t>
            </a:r>
            <a:endParaRPr dirty="0"/>
          </a:p>
          <a:p>
            <a:pPr>
              <a:defRPr sz="1600" b="0">
                <a:solidFill>
                  <a:srgbClr val="A0AAC3"/>
                </a:solidFill>
              </a:defRPr>
            </a:pPr>
            <a:r>
              <a:rPr dirty="0"/>
              <a:t>Veri </a:t>
            </a:r>
            <a:r>
              <a:rPr dirty="0" err="1"/>
              <a:t>Toplama</a:t>
            </a:r>
            <a:r>
              <a:rPr dirty="0"/>
              <a:t> · Makine Öğrenmesi · </a:t>
            </a:r>
            <a:r>
              <a:rPr dirty="0" err="1"/>
              <a:t>Görselleştirme</a:t>
            </a:r>
            <a:endParaRPr dirty="0"/>
          </a:p>
          <a:p>
            <a:pPr>
              <a:defRPr sz="1800" b="0">
                <a:solidFill>
                  <a:srgbClr val="E6EBF5"/>
                </a:solidFill>
              </a:defRPr>
            </a:pPr>
            <a:r>
              <a:rPr dirty="0" err="1"/>
              <a:t>XGBoost</a:t>
            </a:r>
            <a:r>
              <a:rPr dirty="0"/>
              <a:t> Regressor · R² 84.97%</a:t>
            </a:r>
          </a:p>
          <a:p>
            <a:pPr>
              <a:defRPr sz="1400" b="0">
                <a:solidFill>
                  <a:srgbClr val="A0AAC3"/>
                </a:solidFill>
              </a:defRPr>
            </a:pPr>
            <a:r>
              <a:rPr dirty="0" err="1"/>
              <a:t>Çalışma</a:t>
            </a:r>
            <a:r>
              <a:rPr dirty="0"/>
              <a:t>: </a:t>
            </a:r>
            <a:r>
              <a:rPr dirty="0" err="1"/>
              <a:t>berkyz</a:t>
            </a:r>
            <a:r>
              <a:rPr dirty="0"/>
              <a:t>/</a:t>
            </a:r>
            <a:r>
              <a:rPr dirty="0" err="1"/>
              <a:t>tmdb</a:t>
            </a:r>
            <a:r>
              <a:rPr dirty="0"/>
              <a:t>-movie-data-analysis</a:t>
            </a:r>
          </a:p>
        </p:txBody>
      </p:sp>
      <p:pic>
        <p:nvPicPr>
          <p:cNvPr id="3" name="Picture 2" descr="yillik_hasilat_tre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371600"/>
            <a:ext cx="32004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91440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8CAE4"/>
                </a:solidFill>
              </a:defRPr>
            </a:pPr>
            <a:r>
              <a:t>Verilerin Toplanma Süreci &amp; Ön İşleme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53035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</a:defRPr>
            </a:pPr>
            <a:r>
              <a:t>Kaynak Veri Seti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TMDB 5000 Movies + Credits CSV (Kaggle)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~4.800 temizlenmiş film kaydı, 20+ özellik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SQL Server (TMDB_MovieDB) ortamına aktarıldı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Ön İşleme Adımları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NULL değerler ve sıfır bütçeli kayıtlar çıkarıldı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StandardScaler → bütçe, hasılat, süre, puan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Label Encoding → yönetmen, başrol oyuncu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Target Encoding → tür (genre) sütunları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Çıktı sütunu: log(revenue) yerine ham hasılat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Kullanılan Araçlar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Python · Pandas · Scikit-learn · XGBoost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MS SQL Server · Jupyter Notebook</a:t>
            </a:r>
          </a:p>
        </p:txBody>
      </p:sp>
      <p:pic>
        <p:nvPicPr>
          <p:cNvPr id="4" name="Picture 3" descr="yillik_film_sayisi_tren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77240"/>
            <a:ext cx="3017520" cy="1293223"/>
          </a:xfrm>
          <a:prstGeom prst="rect">
            <a:avLst/>
          </a:prstGeom>
        </p:spPr>
      </p:pic>
      <p:pic>
        <p:nvPicPr>
          <p:cNvPr id="5" name="Picture 4" descr="korelasyon_isi_harita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777240"/>
            <a:ext cx="3017520" cy="2414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42062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0AAC3"/>
                </a:solidFill>
              </a:defRPr>
            </a:pPr>
            <a:r>
              <a:t>▲ Yıllık üretim eğilimi ve değişken korelasyon ısı haritası.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91440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8CAE4"/>
                </a:solidFill>
              </a:defRPr>
            </a:pPr>
            <a:r>
              <a:t>Algoritma Seçimi &amp; Model Doğruluk Ölçümleri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54864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</a:defRPr>
            </a:pPr>
            <a:r>
              <a:t>Neden XGBoost Regressor?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Bütçe–Hasılat arasındaki karmaşık, doğrusal olmayan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  ilişkileri ensemble yapısıyla yakalar.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GPU hızlandırması (RTX 4050) ile kısa eğitim süresi.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Yerleşik regularization (L1/L2) → overfitting kontrolü.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Feature Importance ile açıklanabilir AI.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Model Doğruluk Raporu</a:t>
            </a:r>
          </a:p>
          <a:p>
            <a:pPr>
              <a:defRPr sz="1400" b="1">
                <a:solidFill>
                  <a:srgbClr val="64DD96"/>
                </a:solidFill>
              </a:defRPr>
            </a:pPr>
            <a:r>
              <a:t>R² Skoru:   0.8497  →  %84.97 açıklanabilirlik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RMSE:       $68,791,289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MAE:        $37,830,620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r>
              <a:t>MAPE:       %50.90  (uzak aykırılıklara duyarlı)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Donanım:    NVIDIA GeForce RTX 4050 GPU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400" b="1">
                <a:solidFill>
                  <a:srgbClr val="FFD166"/>
                </a:solidFill>
              </a:defRPr>
            </a:pPr>
            <a:r>
              <a:t>Değerlendirme: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Model, yüksek R² ile sinyal kalitesi kuvvetli bir tahmin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çerçevesi sunmaktadır. MAPE sektörde kabul görülebilir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aralıktadır (hasılat dağılımı sağ çarpıklı/aykırı değer yoğun).</a:t>
            </a:r>
          </a:p>
        </p:txBody>
      </p:sp>
      <p:pic>
        <p:nvPicPr>
          <p:cNvPr id="4" name="Picture 3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777240"/>
            <a:ext cx="3017520" cy="2263140"/>
          </a:xfrm>
          <a:prstGeom prst="rect">
            <a:avLst/>
          </a:prstGeom>
        </p:spPr>
      </p:pic>
      <p:pic>
        <p:nvPicPr>
          <p:cNvPr id="5" name="Picture 4" descr="gercek_vs_tah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777240"/>
            <a:ext cx="3017520" cy="1508760"/>
          </a:xfrm>
          <a:prstGeom prst="rect">
            <a:avLst/>
          </a:prstGeom>
        </p:spPr>
      </p:pic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023360"/>
            <a:ext cx="2286000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6400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0AAC3"/>
                </a:solidFill>
              </a:defRPr>
            </a:pPr>
            <a:r>
              <a:t>Sol: En etkili değişkenler (bütçe ve oy_sayısı lider). Sağ: Gerçek–Tahmin dağılımı.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91440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8CAE4"/>
                </a:solidFill>
              </a:defRPr>
            </a:pPr>
            <a:r>
              <a:t>Bütçe, Puan ve Gişe İlişkisi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5029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</a:defRPr>
            </a:pPr>
            <a:r>
              <a:t>Büyük Bütçe = Garanti Kâr mı?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Dev bütçeli 47 filmden yalnızca 1 tanesi zarar etti:</a:t>
            </a:r>
          </a:p>
          <a:p>
            <a:pPr>
              <a:defRPr sz="1400" b="1">
                <a:solidFill>
                  <a:srgbClr val="FF6E6E"/>
                </a:solidFill>
              </a:defRPr>
            </a:pPr>
            <a:r>
              <a:t>→ The Lone Ranger: −$165,710,090 zarar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Genel trendde büyük bütçe kazanç olasılığını yüksek tutar,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ancak pazarlama ve dağıtım giderleri belirleyicidir.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Rating ve Hasılat: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Düşük (0–5) puan grubun ort. hasılatı:   $40.9M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Orta  (5–7) puan grubun ort. hasılatı:  $108.4M</a:t>
            </a:r>
          </a:p>
          <a:p>
            <a:pPr>
              <a:defRPr sz="1400" b="1">
                <a:solidFill>
                  <a:srgbClr val="64DD96"/>
                </a:solidFill>
              </a:defRPr>
            </a:pPr>
            <a:r>
              <a:t>• Yüksek(7–10) puan grubun ort. hasılatı: $162.1M</a:t>
            </a:r>
          </a:p>
          <a:p>
            <a:pPr>
              <a:defRPr sz="1300" b="0">
                <a:solidFill>
                  <a:srgbClr val="64DD96"/>
                </a:solidFill>
              </a:defRPr>
            </a:pPr>
            <a:r>
              <a:t>Yüksek puan → %296 fazla ortalama gelir.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Süre–Puan İlişkisi: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90–150 dk arası filmler en yüksek puan kümesini oluşturur.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Çok kısa (&lt;70 dk) veya aşırı uzun (&gt;180 dk) filmler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ortalama puanda düşüş göstermektedir.</a:t>
            </a:r>
          </a:p>
        </p:txBody>
      </p:sp>
      <p:pic>
        <p:nvPicPr>
          <p:cNvPr id="4" name="Picture 3" descr="butce_kar_analiz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777240"/>
            <a:ext cx="3200400" cy="1600200"/>
          </a:xfrm>
          <a:prstGeom prst="rect">
            <a:avLst/>
          </a:prstGeom>
        </p:spPr>
      </p:pic>
      <p:pic>
        <p:nvPicPr>
          <p:cNvPr id="5" name="Picture 4" descr="rating_vs_reven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777240"/>
            <a:ext cx="3200400" cy="1920240"/>
          </a:xfrm>
          <a:prstGeom prst="rect">
            <a:avLst/>
          </a:prstGeom>
        </p:spPr>
      </p:pic>
      <p:pic>
        <p:nvPicPr>
          <p:cNvPr id="6" name="Picture 5" descr="sure_puan_iliskis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931920"/>
            <a:ext cx="3200400" cy="1920240"/>
          </a:xfrm>
          <a:prstGeom prst="rect">
            <a:avLst/>
          </a:prstGeom>
        </p:spPr>
      </p:pic>
      <p:pic>
        <p:nvPicPr>
          <p:cNvPr id="7" name="Picture 6" descr="rating_scat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31920"/>
            <a:ext cx="320040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91440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8CAE4"/>
                </a:solidFill>
              </a:defRPr>
            </a:pPr>
            <a:r>
              <a:t>Tür Analizi &amp; Mevsimsel Gişe Trendleri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5029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</a:defRPr>
            </a:pPr>
            <a:r>
              <a:t>Türlere Göre Ort. Hasılat (İlk 10):</a:t>
            </a:r>
          </a:p>
          <a:p>
            <a:pPr>
              <a:defRPr sz="1400" b="1">
                <a:solidFill>
                  <a:srgbClr val="64DD96"/>
                </a:solidFill>
              </a:defRPr>
            </a:pPr>
            <a:r>
              <a:t>1. Animation:       $276.5M</a:t>
            </a:r>
          </a:p>
          <a:p>
            <a:pPr>
              <a:defRPr sz="1300" b="0">
                <a:solidFill>
                  <a:srgbClr val="64DD96"/>
                </a:solidFill>
              </a:defRPr>
            </a:pPr>
            <a:r>
              <a:t>2. Adventure:       $244.2M</a:t>
            </a:r>
          </a:p>
          <a:p>
            <a:pPr>
              <a:defRPr sz="1300" b="0">
                <a:solidFill>
                  <a:srgbClr val="64DD96"/>
                </a:solidFill>
              </a:defRPr>
            </a:pPr>
            <a:r>
              <a:t>3. Fantasy:         $233.6M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4. Family:          $218.0M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5. Science Fiction: $185.8M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6. Action:          $173.4M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r>
              <a:t>7. Thriller:        $107.7M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r>
              <a:t>8. Comedy:          $104.6M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r>
              <a:t>9. Mystery:         $101.7M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r>
              <a:t>10. War:             $99.3M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Mevsimsellik: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Yaz ayları (Haziran, Temmuz) ve Kış tatilleri (Aralık)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en yüksek ortalama hasılatı barındırır.</a:t>
            </a:r>
          </a:p>
          <a:p>
            <a:pPr>
              <a:defRPr sz="1400" b="1">
                <a:solidFill>
                  <a:srgbClr val="64DD96"/>
                </a:solidFill>
              </a:defRPr>
            </a:pPr>
            <a:r>
              <a:t>En yüksek aylık hasılat: HAZİRAN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Geniş kitlelere hitap eden türler bu dönemlerde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pazara çıkarak maksimum erişim sağlamaktadır.</a:t>
            </a:r>
          </a:p>
        </p:txBody>
      </p:sp>
      <p:pic>
        <p:nvPicPr>
          <p:cNvPr id="4" name="Picture 3" descr="tur_vs_hasil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777240"/>
            <a:ext cx="3200400" cy="2133600"/>
          </a:xfrm>
          <a:prstGeom prst="rect">
            <a:avLst/>
          </a:prstGeom>
        </p:spPr>
      </p:pic>
      <p:pic>
        <p:nvPicPr>
          <p:cNvPr id="5" name="Picture 4" descr="aylik_hasilat_mevsimsel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777240"/>
            <a:ext cx="3200400" cy="1920240"/>
          </a:xfrm>
          <a:prstGeom prst="rect">
            <a:avLst/>
          </a:prstGeom>
        </p:spPr>
      </p:pic>
      <p:pic>
        <p:nvPicPr>
          <p:cNvPr id="6" name="Picture 5" descr="yillik_hasilat_trend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931920"/>
            <a:ext cx="3200400" cy="1371600"/>
          </a:xfrm>
          <a:prstGeom prst="rect">
            <a:avLst/>
          </a:prstGeom>
        </p:spPr>
      </p:pic>
      <p:pic>
        <p:nvPicPr>
          <p:cNvPr id="7" name="Picture 6" descr="yillik_film_sayisi_trend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31920"/>
            <a:ext cx="32004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91440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8CAE4"/>
                </a:solidFill>
              </a:defRPr>
            </a:pPr>
            <a:r>
              <a:t>Sektörün Liderleri: Oyuncu · Yönetmen · Şirket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5029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</a:defRPr>
            </a:pPr>
            <a:r>
              <a:t>En Çok Hasılat Getiren Oyuncu:</a:t>
            </a:r>
          </a:p>
          <a:p>
            <a:pPr>
              <a:defRPr sz="1500" b="1">
                <a:solidFill>
                  <a:srgbClr val="64DD96"/>
                </a:solidFill>
              </a:defRPr>
            </a:pPr>
            <a:r>
              <a:t>Stan Lee  →  $17,364,063,582  toplam hasılat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(Marvel evren bağlantısı liderliğinin temel nedeni)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En Çok Hasılat Getiren Yönetmen:</a:t>
            </a:r>
          </a:p>
          <a:p>
            <a:pPr>
              <a:defRPr sz="1500" b="1">
                <a:solidFill>
                  <a:srgbClr val="64DD96"/>
                </a:solidFill>
              </a:defRPr>
            </a:pPr>
            <a:r>
              <a:t>Steven Spielberg  →  $9,147,393,164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(Uzun ve istikrarlı filmografi etkisi)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En Çok Hasılat Getiren Şirket:</a:t>
            </a:r>
          </a:p>
          <a:p>
            <a:pPr>
              <a:defRPr sz="1500" b="1">
                <a:solidFill>
                  <a:srgbClr val="64DD96"/>
                </a:solidFill>
              </a:defRPr>
            </a:pPr>
            <a:r>
              <a:t>Warner Bros.  →  $49,155,747,874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(Franchise portföyünün gücü: DC, Harry Potter, Looney Tunes)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400" b="1">
                <a:solidFill>
                  <a:srgbClr val="FFD166"/>
                </a:solidFill>
              </a:defRPr>
            </a:pPr>
            <a:r>
              <a:t>Çıkarım: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Sektörde kazananlar rastgele oluşmaz; franchise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varlığı, marka değeri ve dağıtım ağı belirleyicidir.</a:t>
            </a:r>
          </a:p>
        </p:txBody>
      </p:sp>
      <p:pic>
        <p:nvPicPr>
          <p:cNvPr id="4" name="Picture 3" descr="oyuncu_hasilat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777240"/>
            <a:ext cx="3200400" cy="1600200"/>
          </a:xfrm>
          <a:prstGeom prst="rect">
            <a:avLst/>
          </a:prstGeom>
        </p:spPr>
      </p:pic>
      <p:pic>
        <p:nvPicPr>
          <p:cNvPr id="5" name="Picture 4" descr="yonetmen_hasilat_top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777240"/>
            <a:ext cx="3200400" cy="1600200"/>
          </a:xfrm>
          <a:prstGeom prst="rect">
            <a:avLst/>
          </a:prstGeom>
        </p:spPr>
      </p:pic>
      <p:pic>
        <p:nvPicPr>
          <p:cNvPr id="6" name="Picture 5" descr="sirket_hasilat_top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3931920"/>
            <a:ext cx="3200400" cy="1600200"/>
          </a:xfrm>
          <a:prstGeom prst="rect">
            <a:avLst/>
          </a:prstGeom>
        </p:spPr>
      </p:pic>
      <p:pic>
        <p:nvPicPr>
          <p:cNvPr id="7" name="Picture 6" descr="en_cok_kar_edenl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0" y="3931920"/>
            <a:ext cx="32004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91440"/>
            <a:ext cx="8686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48CAE4"/>
                </a:solidFill>
              </a:defRPr>
            </a:pPr>
            <a:r>
              <a:t>Genel Özet, Sonuçlar ve Çıkarımlar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777240"/>
            <a:ext cx="54864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</a:defRPr>
            </a:pPr>
            <a:r>
              <a:t>Model Performansı</a:t>
            </a:r>
          </a:p>
          <a:p>
            <a:pPr>
              <a:defRPr sz="1300" b="1">
                <a:solidFill>
                  <a:srgbClr val="64DD96"/>
                </a:solidFill>
              </a:defRPr>
            </a:pPr>
            <a:r>
              <a:t>• R² 0.8497 — hasılat değişiminin %85'ini açıklıyor.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MAE $37.8M seviyesinde; büyük stüdyolar için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  kabul edilebilir bir tolerans aralığı.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• MAPE %50.90 — veri setindeki sağ çarpıklıktan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  (blockbuster aykırı değerler) kaynaklanıyor.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En önemli değişkenler: budget &gt; vote_count &gt; popularity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Kritik Bulgular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Bütçe kâr garantisi değil, ancak risk azaltıcıdır.</a:t>
            </a:r>
          </a:p>
          <a:p>
            <a:pPr>
              <a:defRPr sz="1300" b="1">
                <a:solidFill>
                  <a:srgbClr val="64DD96"/>
                </a:solidFill>
              </a:defRPr>
            </a:pPr>
            <a:r>
              <a:t>• Yüksek rating (+7) → ortalama hasılat 4x artıyor.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Haziran ayı peak sezonu — Animasyon/Macera ideal.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Warner Bros., Disney ve Universal pazar liderliği</a:t>
            </a:r>
          </a:p>
          <a:p>
            <a:pPr>
              <a:defRPr sz="1200" b="0">
                <a:solidFill>
                  <a:srgbClr val="A0AAC3"/>
                </a:solidFill>
              </a:defRPr>
            </a:pPr>
            <a:r>
              <a:t>  franchise varlığıyla sürdürülebilir hale gelmiştir.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777240"/>
            <a:ext cx="5943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D166"/>
                </a:solidFill>
              </a:defRPr>
            </a:pPr>
            <a:r>
              <a:t>İş Değeri &amp; Uygulanabilirlik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Stüdyolar bu modeli bütçe onay sürecinde kullanabilir.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Oyuncu/yönetmen seçimi hasılat tahminine entegre edilebilir.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Genre + release timing optimizasyonu yapılabilir.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Geliştirme Yönleri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NLP ile poster/fragman duygu analizi eklenebilir.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MAPE'yi düşürmek için log-transform hedef değişken.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Rekabetçi haftalık vizyona giren film sayısı verisi.</a:t>
            </a:r>
          </a:p>
          <a:p>
            <a:pPr>
              <a:defRPr sz="1300" b="0">
                <a:solidFill>
                  <a:srgbClr val="A0AAC3"/>
                </a:solidFill>
              </a:defRPr>
            </a:pPr>
            <a:endParaRPr/>
          </a:p>
          <a:p>
            <a:pPr>
              <a:defRPr sz="1500" b="1">
                <a:solidFill>
                  <a:srgbClr val="FFD166"/>
                </a:solidFill>
              </a:defRPr>
            </a:pPr>
            <a:r>
              <a:t>Donanım &amp; Teknik Altyapı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NVIDIA RTX 4050 GPU ile GPU-hızlandırmalı XGBoost.</a:t>
            </a:r>
          </a:p>
          <a:p>
            <a:pPr>
              <a:defRPr sz="1300" b="0">
                <a:solidFill>
                  <a:srgbClr val="E6EBF5"/>
                </a:solidFill>
              </a:defRPr>
            </a:pPr>
            <a:r>
              <a:t>• MS SQL Server + Python (pandas, sklearn, xgboost).</a:t>
            </a:r>
          </a:p>
          <a:p>
            <a:pPr>
              <a:defRPr sz="1300" b="0">
                <a:solidFill>
                  <a:srgbClr val="64DD96"/>
                </a:solidFill>
              </a:defRPr>
            </a:pPr>
            <a:r>
              <a:t>• Model .json formatında kaydedildi, deploy'a hazır.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827</Words>
  <Application>Microsoft Office PowerPoint</Application>
  <PresentationFormat>Özel</PresentationFormat>
  <Paragraphs>122</Paragraphs>
  <Slides>7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6177</cp:lastModifiedBy>
  <cp:revision>3</cp:revision>
  <dcterms:created xsi:type="dcterms:W3CDTF">2013-01-27T09:14:16Z</dcterms:created>
  <dcterms:modified xsi:type="dcterms:W3CDTF">2026-05-02T14:08:29Z</dcterms:modified>
  <cp:category/>
</cp:coreProperties>
</file>