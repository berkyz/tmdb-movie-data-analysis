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828800"/>
            <a:ext cx="91440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8CAE4"/>
                </a:solidFill>
              </a:defRPr>
            </a:pPr>
            <a:r>
              <a:rPr dirty="0"/>
              <a:t>TMDB Film </a:t>
            </a:r>
            <a:r>
              <a:rPr dirty="0" err="1"/>
              <a:t>Hasılat</a:t>
            </a:r>
            <a:r>
              <a:rPr dirty="0"/>
              <a:t> </a:t>
            </a:r>
            <a:r>
              <a:rPr dirty="0" err="1"/>
              <a:t>Analizi</a:t>
            </a:r>
            <a:endParaRPr dirty="0"/>
          </a:p>
          <a:p>
            <a:pPr>
              <a:defRPr sz="1600" b="0">
                <a:solidFill>
                  <a:srgbClr val="A0AAC3"/>
                </a:solidFill>
              </a:defRPr>
            </a:pPr>
            <a:r>
              <a:rPr dirty="0"/>
              <a:t>Veri </a:t>
            </a:r>
            <a:r>
              <a:rPr dirty="0" err="1"/>
              <a:t>Toplama</a:t>
            </a:r>
            <a:r>
              <a:rPr dirty="0"/>
              <a:t> · Makine Öğrenmesi · </a:t>
            </a:r>
            <a:r>
              <a:rPr dirty="0" err="1"/>
              <a:t>Görselleştirme</a:t>
            </a:r>
            <a:endParaRPr dirty="0"/>
          </a:p>
          <a:p>
            <a:pPr>
              <a:defRPr sz="1800" b="0">
                <a:solidFill>
                  <a:srgbClr val="E6EBF5"/>
                </a:solidFill>
              </a:defRPr>
            </a:pPr>
            <a:r>
              <a:rPr dirty="0" err="1"/>
              <a:t>XGBoost</a:t>
            </a:r>
            <a:r>
              <a:rPr dirty="0"/>
              <a:t> Regressor · R² 84.97%</a:t>
            </a:r>
          </a:p>
          <a:p>
            <a:pPr>
              <a:defRPr sz="1400" b="0">
                <a:solidFill>
                  <a:srgbClr val="A0AAC3"/>
                </a:solidFill>
              </a:defRPr>
            </a:pPr>
            <a:r>
              <a:rPr dirty="0" err="1"/>
              <a:t>Çalışma</a:t>
            </a:r>
            <a:r>
              <a:rPr dirty="0"/>
              <a:t>: </a:t>
            </a:r>
            <a:r>
              <a:rPr dirty="0" err="1"/>
              <a:t>berkyz</a:t>
            </a:r>
            <a:r>
              <a:rPr dirty="0"/>
              <a:t>/</a:t>
            </a:r>
            <a:r>
              <a:rPr dirty="0" err="1"/>
              <a:t>tmdb</a:t>
            </a:r>
            <a:r>
              <a:rPr dirty="0"/>
              <a:t>-movie-data-analysis</a:t>
            </a:r>
          </a:p>
        </p:txBody>
      </p:sp>
      <p:pic>
        <p:nvPicPr>
          <p:cNvPr id="3" name="Picture 2" descr="yillik_hasilat_trend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371600"/>
            <a:ext cx="32004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9144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8CAE4"/>
                </a:solidFill>
              </a:defRPr>
            </a:pPr>
            <a:r>
              <a:t>Verilerin Toplanma Süreci &amp; Ön İşleme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530352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D166"/>
                </a:solidFill>
              </a:defRPr>
            </a:pPr>
            <a:r>
              <a:t>Kaynak Veri Seti</a:t>
            </a:r>
          </a:p>
          <a:p>
            <a:pPr>
              <a:defRPr sz="1300" b="0">
                <a:solidFill>
                  <a:srgbClr val="E6EBF5"/>
                </a:solidFill>
              </a:defRPr>
            </a:pPr>
            <a:r>
              <a:t>• TMDB 5000 Movies + Credits CSV (Kaggle)</a:t>
            </a:r>
          </a:p>
          <a:p>
            <a:pPr>
              <a:defRPr sz="1300" b="0">
                <a:solidFill>
                  <a:srgbClr val="E6EBF5"/>
                </a:solidFill>
              </a:defRPr>
            </a:pPr>
            <a:r>
              <a:t>• ~4.800 temizlenmiş film kaydı, 20+ özellik</a:t>
            </a:r>
          </a:p>
          <a:p>
            <a:pPr>
              <a:defRPr sz="1300" b="0">
                <a:solidFill>
                  <a:srgbClr val="E6EBF5"/>
                </a:solidFill>
              </a:defRPr>
            </a:pPr>
            <a:r>
              <a:t>• SQL Server (TMDB_MovieDB) ortamına aktarıldı</a:t>
            </a:r>
          </a:p>
          <a:p>
            <a:pPr>
              <a:defRPr sz="1300" b="0">
                <a:solidFill>
                  <a:srgbClr val="A0AAC3"/>
                </a:solidFill>
              </a:defRPr>
            </a:pPr>
            <a:endParaRPr/>
          </a:p>
          <a:p>
            <a:pPr>
              <a:defRPr sz="1500" b="1">
                <a:solidFill>
                  <a:srgbClr val="FFD166"/>
                </a:solidFill>
              </a:defRPr>
            </a:pPr>
            <a:r>
              <a:t>Ön İşleme Adımları</a:t>
            </a:r>
          </a:p>
          <a:p>
            <a:pPr>
              <a:defRPr sz="1300" b="0">
                <a:solidFill>
                  <a:srgbClr val="E6EBF5"/>
                </a:solidFill>
              </a:defRPr>
            </a:pPr>
            <a:r>
              <a:t>• NULL değerler ve sıfır bütçeli kayıtlar çıkarıldı</a:t>
            </a:r>
          </a:p>
          <a:p>
            <a:pPr>
              <a:defRPr sz="1300" b="0">
                <a:solidFill>
                  <a:srgbClr val="E6EBF5"/>
                </a:solidFill>
              </a:defRPr>
            </a:pPr>
            <a:r>
              <a:t>• StandardScaler → bütçe, hasılat, süre, puan</a:t>
            </a:r>
          </a:p>
          <a:p>
            <a:pPr>
              <a:defRPr sz="1300" b="0">
                <a:solidFill>
                  <a:srgbClr val="E6EBF5"/>
                </a:solidFill>
              </a:defRPr>
            </a:pPr>
            <a:r>
              <a:t>• Label Encoding → yönetmen, başrol oyuncu</a:t>
            </a:r>
          </a:p>
          <a:p>
            <a:pPr>
              <a:defRPr sz="1300" b="0">
                <a:solidFill>
                  <a:srgbClr val="E6EBF5"/>
                </a:solidFill>
              </a:defRPr>
            </a:pPr>
            <a:r>
              <a:t>• Target Encoding → tür (genre) sütunları</a:t>
            </a:r>
          </a:p>
          <a:p>
            <a:pPr>
              <a:defRPr sz="1300" b="0">
                <a:solidFill>
                  <a:srgbClr val="E6EBF5"/>
                </a:solidFill>
              </a:defRPr>
            </a:pPr>
            <a:r>
              <a:t>• Çıktı sütunu: log(revenue) yerine ham hasılat</a:t>
            </a:r>
          </a:p>
          <a:p>
            <a:pPr>
              <a:defRPr sz="1300" b="0">
                <a:solidFill>
                  <a:srgbClr val="A0AAC3"/>
                </a:solidFill>
              </a:defRPr>
            </a:pPr>
            <a:endParaRPr/>
          </a:p>
          <a:p>
            <a:pPr>
              <a:defRPr sz="1500" b="1">
                <a:solidFill>
                  <a:srgbClr val="FFD166"/>
                </a:solidFill>
              </a:defRPr>
            </a:pPr>
            <a:r>
              <a:t>Kullanılan Araçlar</a:t>
            </a:r>
          </a:p>
          <a:p>
            <a:pPr>
              <a:defRPr sz="1300" b="0">
                <a:solidFill>
                  <a:srgbClr val="E6EBF5"/>
                </a:solidFill>
              </a:defRPr>
            </a:pPr>
            <a:r>
              <a:t>• Python · Pandas · Scikit-learn · XGBoost</a:t>
            </a:r>
          </a:p>
          <a:p>
            <a:pPr>
              <a:defRPr sz="1300" b="0">
                <a:solidFill>
                  <a:srgbClr val="E6EBF5"/>
                </a:solidFill>
              </a:defRPr>
            </a:pPr>
            <a:r>
              <a:t>• MS SQL Server · Jupyter Notebook</a:t>
            </a:r>
          </a:p>
        </p:txBody>
      </p:sp>
      <p:pic>
        <p:nvPicPr>
          <p:cNvPr id="4" name="Picture 3" descr="yillik_film_sayisi_trend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777240"/>
            <a:ext cx="3017520" cy="1293223"/>
          </a:xfrm>
          <a:prstGeom prst="rect">
            <a:avLst/>
          </a:prstGeom>
        </p:spPr>
      </p:pic>
      <p:pic>
        <p:nvPicPr>
          <p:cNvPr id="5" name="Picture 4" descr="korelasyon_isi_harita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777240"/>
            <a:ext cx="3017520" cy="24140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52160" y="42062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0AAC3"/>
                </a:solidFill>
              </a:defRPr>
            </a:pPr>
            <a:r>
              <a:t>▲ Yıllık üretim eğilimi ve değişken korelasyon ısı haritası.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9144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8CAE4"/>
                </a:solidFill>
              </a:defRPr>
            </a:pPr>
            <a:r>
              <a:t>Algoritma Seçimi &amp; Model Doğruluk Ölçümleri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54864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D166"/>
                </a:solidFill>
              </a:defRPr>
            </a:pPr>
            <a:r>
              <a:t>Neden XGBoost Regressor?</a:t>
            </a:r>
          </a:p>
          <a:p>
            <a:pPr>
              <a:defRPr sz="1300" b="0">
                <a:solidFill>
                  <a:srgbClr val="E6EBF5"/>
                </a:solidFill>
              </a:defRPr>
            </a:pPr>
            <a:r>
              <a:t>• Bütçe–Hasılat arasındaki karmaşık, doğrusal olmayan</a:t>
            </a:r>
          </a:p>
          <a:p>
            <a:pPr>
              <a:defRPr sz="1300" b="0">
                <a:solidFill>
                  <a:srgbClr val="E6EBF5"/>
                </a:solidFill>
              </a:defRPr>
            </a:pPr>
            <a:r>
              <a:t>  ilişkileri ensemble yapısıyla yakalar.</a:t>
            </a:r>
          </a:p>
          <a:p>
            <a:pPr>
              <a:defRPr sz="1300" b="0">
                <a:solidFill>
                  <a:srgbClr val="E6EBF5"/>
                </a:solidFill>
              </a:defRPr>
            </a:pPr>
            <a:r>
              <a:t>• GPU hızlandırması (RTX 4050) ile kısa eğitim süresi.</a:t>
            </a:r>
          </a:p>
          <a:p>
            <a:pPr>
              <a:defRPr sz="1300" b="0">
                <a:solidFill>
                  <a:srgbClr val="E6EBF5"/>
                </a:solidFill>
              </a:defRPr>
            </a:pPr>
            <a:r>
              <a:t>• Yerleşik regularization (L1/L2) → overfitting kontrolü.</a:t>
            </a:r>
          </a:p>
          <a:p>
            <a:pPr>
              <a:defRPr sz="1300" b="0">
                <a:solidFill>
                  <a:srgbClr val="E6EBF5"/>
                </a:solidFill>
              </a:defRPr>
            </a:pPr>
            <a:r>
              <a:t>• Feature Importance ile açıklanabilir AI.</a:t>
            </a:r>
          </a:p>
          <a:p>
            <a:pPr>
              <a:defRPr sz="1300" b="0">
                <a:solidFill>
                  <a:srgbClr val="A0AAC3"/>
                </a:solidFill>
              </a:defRPr>
            </a:pPr>
            <a:endParaRPr/>
          </a:p>
          <a:p>
            <a:pPr>
              <a:defRPr sz="1500" b="1">
                <a:solidFill>
                  <a:srgbClr val="FFD166"/>
                </a:solidFill>
              </a:defRPr>
            </a:pPr>
            <a:r>
              <a:t>Model Doğruluk Raporu</a:t>
            </a:r>
          </a:p>
          <a:p>
            <a:pPr>
              <a:defRPr sz="1400" b="1">
                <a:solidFill>
                  <a:srgbClr val="64DD96"/>
                </a:solidFill>
              </a:defRPr>
            </a:pPr>
            <a:r>
              <a:t>R² Skoru:   0.8497  →  %84.97 açıklanabilirlik</a:t>
            </a:r>
          </a:p>
          <a:p>
            <a:pPr>
              <a:defRPr sz="1300" b="0">
                <a:solidFill>
                  <a:srgbClr val="E6EBF5"/>
                </a:solidFill>
              </a:defRPr>
            </a:pPr>
            <a:r>
              <a:t>RMSE:       $68,791,289</a:t>
            </a:r>
          </a:p>
          <a:p>
            <a:pPr>
              <a:defRPr sz="1300" b="0">
                <a:solidFill>
                  <a:srgbClr val="E6EBF5"/>
                </a:solidFill>
              </a:defRPr>
            </a:pPr>
            <a:r>
              <a:t>MAE:        $37,830,620</a:t>
            </a:r>
          </a:p>
          <a:p>
            <a:pPr>
              <a:defRPr sz="1300" b="0">
                <a:solidFill>
                  <a:srgbClr val="A0AAC3"/>
                </a:solidFill>
              </a:defRPr>
            </a:pPr>
            <a:r>
              <a:t>MAPE:       %50.90  (uzak aykırılıklara duyarlı)</a:t>
            </a:r>
          </a:p>
          <a:p>
            <a:pPr>
              <a:defRPr sz="1300" b="0">
                <a:solidFill>
                  <a:srgbClr val="E6EBF5"/>
                </a:solidFill>
              </a:defRPr>
            </a:pPr>
            <a:r>
              <a:t>Donanım:    NVIDIA GeForce RTX 4050 GPU</a:t>
            </a:r>
          </a:p>
          <a:p>
            <a:pPr>
              <a:defRPr sz="1300" b="0">
                <a:solidFill>
                  <a:srgbClr val="A0AAC3"/>
                </a:solidFill>
              </a:defRPr>
            </a:pPr>
            <a:endParaRPr/>
          </a:p>
          <a:p>
            <a:pPr>
              <a:defRPr sz="1400" b="1">
                <a:solidFill>
                  <a:srgbClr val="FFD166"/>
                </a:solidFill>
              </a:defRPr>
            </a:pPr>
            <a:r>
              <a:t>Değerlendirme:</a:t>
            </a:r>
          </a:p>
          <a:p>
            <a:pPr>
              <a:defRPr sz="1300" b="0">
                <a:solidFill>
                  <a:srgbClr val="E6EBF5"/>
                </a:solidFill>
              </a:defRPr>
            </a:pPr>
            <a:r>
              <a:t>Model, yüksek R² ile sinyal kalitesi kuvvetli bir tahmin</a:t>
            </a:r>
          </a:p>
          <a:p>
            <a:pPr>
              <a:defRPr sz="1300" b="0">
                <a:solidFill>
                  <a:srgbClr val="E6EBF5"/>
                </a:solidFill>
              </a:defRPr>
            </a:pPr>
            <a:r>
              <a:t>çerçevesi sunmaktadır. MAPE sektörde kabul görülebilir</a:t>
            </a:r>
          </a:p>
          <a:p>
            <a:pPr>
              <a:defRPr sz="1200" b="0">
                <a:solidFill>
                  <a:srgbClr val="A0AAC3"/>
                </a:solidFill>
              </a:defRPr>
            </a:pPr>
            <a:r>
              <a:t>aralıktadır (hasılat dağılımı sağ çarpıklı/aykırı değer yoğun).</a:t>
            </a:r>
          </a:p>
        </p:txBody>
      </p:sp>
      <p:pic>
        <p:nvPicPr>
          <p:cNvPr id="4" name="Picture 3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777240"/>
            <a:ext cx="3017520" cy="2263140"/>
          </a:xfrm>
          <a:prstGeom prst="rect">
            <a:avLst/>
          </a:prstGeom>
        </p:spPr>
      </p:pic>
      <p:pic>
        <p:nvPicPr>
          <p:cNvPr id="5" name="Picture 4" descr="gercek_vs_tahm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777240"/>
            <a:ext cx="3017520" cy="1508760"/>
          </a:xfrm>
          <a:prstGeom prst="rect">
            <a:avLst/>
          </a:prstGeom>
        </p:spPr>
      </p:pic>
      <p:pic>
        <p:nvPicPr>
          <p:cNvPr id="6" name="Picture 5" descr="confus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023360"/>
            <a:ext cx="2286000" cy="1828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64008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0AAC3"/>
                </a:solidFill>
              </a:defRPr>
            </a:pPr>
            <a:r>
              <a:t>Sol: En etkili değişkenler (bütçe ve oy_sayısı lider). Sağ: Gerçek–Tahmin dağılımı.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9144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8CAE4"/>
                </a:solidFill>
              </a:defRPr>
            </a:pPr>
            <a:r>
              <a:t>Bütçe, Puan ve Gişe İlişkisi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5029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D166"/>
                </a:solidFill>
              </a:defRPr>
            </a:pPr>
            <a:r>
              <a:t>Büyük Bütçe = Garanti Kâr mı?</a:t>
            </a:r>
          </a:p>
          <a:p>
            <a:pPr>
              <a:defRPr sz="1300" b="0">
                <a:solidFill>
                  <a:srgbClr val="E6EBF5"/>
                </a:solidFill>
              </a:defRPr>
            </a:pPr>
            <a:r>
              <a:t>Dev bütçeli 47 filmden yalnızca 1 tanesi zarar etti:</a:t>
            </a:r>
          </a:p>
          <a:p>
            <a:pPr>
              <a:defRPr sz="1400" b="1">
                <a:solidFill>
                  <a:srgbClr val="FF6E6E"/>
                </a:solidFill>
              </a:defRPr>
            </a:pPr>
            <a:r>
              <a:t>→ The Lone Ranger: −$165,710,090 zarar</a:t>
            </a:r>
          </a:p>
          <a:p>
            <a:pPr>
              <a:defRPr sz="1300" b="0">
                <a:solidFill>
                  <a:srgbClr val="E6EBF5"/>
                </a:solidFill>
              </a:defRPr>
            </a:pPr>
            <a:r>
              <a:t>Genel trendde büyük bütçe kazanç olasılığını yüksek tutar,</a:t>
            </a:r>
          </a:p>
          <a:p>
            <a:pPr>
              <a:defRPr sz="1200" b="0">
                <a:solidFill>
                  <a:srgbClr val="A0AAC3"/>
                </a:solidFill>
              </a:defRPr>
            </a:pPr>
            <a:r>
              <a:t>ancak pazarlama ve dağıtım giderleri belirleyicidir.</a:t>
            </a:r>
          </a:p>
          <a:p>
            <a:pPr>
              <a:defRPr sz="1300" b="0">
                <a:solidFill>
                  <a:srgbClr val="A0AAC3"/>
                </a:solidFill>
              </a:defRPr>
            </a:pPr>
            <a:endParaRPr/>
          </a:p>
          <a:p>
            <a:pPr>
              <a:defRPr sz="1500" b="1">
                <a:solidFill>
                  <a:srgbClr val="FFD166"/>
                </a:solidFill>
              </a:defRPr>
            </a:pPr>
            <a:r>
              <a:t>Rating ve Hasılat:</a:t>
            </a:r>
          </a:p>
          <a:p>
            <a:pPr>
              <a:defRPr sz="1300" b="0">
                <a:solidFill>
                  <a:srgbClr val="E6EBF5"/>
                </a:solidFill>
              </a:defRPr>
            </a:pPr>
            <a:r>
              <a:t>• Düşük (0–5) puan grubun ort. hasılatı:   $40.9M</a:t>
            </a:r>
          </a:p>
          <a:p>
            <a:pPr>
              <a:defRPr sz="1300" b="0">
                <a:solidFill>
                  <a:srgbClr val="E6EBF5"/>
                </a:solidFill>
              </a:defRPr>
            </a:pPr>
            <a:r>
              <a:t>• Orta  (5–7) puan grubun ort. hasılatı:  $108.4M</a:t>
            </a:r>
          </a:p>
          <a:p>
            <a:pPr>
              <a:defRPr sz="1400" b="1">
                <a:solidFill>
                  <a:srgbClr val="64DD96"/>
                </a:solidFill>
              </a:defRPr>
            </a:pPr>
            <a:r>
              <a:t>• Yüksek(7–10) puan grubun ort. hasılatı: $162.1M</a:t>
            </a:r>
          </a:p>
          <a:p>
            <a:pPr>
              <a:defRPr sz="1300" b="0">
                <a:solidFill>
                  <a:srgbClr val="64DD96"/>
                </a:solidFill>
              </a:defRPr>
            </a:pPr>
            <a:r>
              <a:t>Yüksek puan → %296 fazla ortalama gelir.</a:t>
            </a:r>
          </a:p>
          <a:p>
            <a:pPr>
              <a:defRPr sz="1300" b="0">
                <a:solidFill>
                  <a:srgbClr val="A0AAC3"/>
                </a:solidFill>
              </a:defRPr>
            </a:pPr>
            <a:endParaRPr/>
          </a:p>
          <a:p>
            <a:pPr>
              <a:defRPr sz="1500" b="1">
                <a:solidFill>
                  <a:srgbClr val="FFD166"/>
                </a:solidFill>
              </a:defRPr>
            </a:pPr>
            <a:r>
              <a:t>Süre–Puan İlişkisi:</a:t>
            </a:r>
          </a:p>
          <a:p>
            <a:pPr>
              <a:defRPr sz="1300" b="0">
                <a:solidFill>
                  <a:srgbClr val="E6EBF5"/>
                </a:solidFill>
              </a:defRPr>
            </a:pPr>
            <a:r>
              <a:t>90–150 dk arası filmler en yüksek puan kümesini oluşturur.</a:t>
            </a:r>
          </a:p>
          <a:p>
            <a:pPr>
              <a:defRPr sz="1300" b="0">
                <a:solidFill>
                  <a:srgbClr val="E6EBF5"/>
                </a:solidFill>
              </a:defRPr>
            </a:pPr>
            <a:r>
              <a:t>Çok kısa (&lt;70 dk) veya aşırı uzun (&gt;180 dk) filmler</a:t>
            </a:r>
          </a:p>
          <a:p>
            <a:pPr>
              <a:defRPr sz="1200" b="0">
                <a:solidFill>
                  <a:srgbClr val="A0AAC3"/>
                </a:solidFill>
              </a:defRPr>
            </a:pPr>
            <a:r>
              <a:t>ortalama puanda düşüş göstermektedir.</a:t>
            </a:r>
          </a:p>
        </p:txBody>
      </p:sp>
      <p:pic>
        <p:nvPicPr>
          <p:cNvPr id="4" name="Picture 3" descr="butce_kar_analiz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777240"/>
            <a:ext cx="3200400" cy="1600200"/>
          </a:xfrm>
          <a:prstGeom prst="rect">
            <a:avLst/>
          </a:prstGeom>
        </p:spPr>
      </p:pic>
      <p:pic>
        <p:nvPicPr>
          <p:cNvPr id="5" name="Picture 4" descr="rating_vs_re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777240"/>
            <a:ext cx="3200400" cy="1920240"/>
          </a:xfrm>
          <a:prstGeom prst="rect">
            <a:avLst/>
          </a:prstGeom>
        </p:spPr>
      </p:pic>
      <p:pic>
        <p:nvPicPr>
          <p:cNvPr id="6" name="Picture 5" descr="sure_puan_iliskis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3931920"/>
            <a:ext cx="3200400" cy="1920240"/>
          </a:xfrm>
          <a:prstGeom prst="rect">
            <a:avLst/>
          </a:prstGeom>
        </p:spPr>
      </p:pic>
      <p:pic>
        <p:nvPicPr>
          <p:cNvPr id="7" name="Picture 6" descr="rating_scat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3931920"/>
            <a:ext cx="320040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9144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8CAE4"/>
                </a:solidFill>
              </a:defRPr>
            </a:pPr>
            <a:r>
              <a:t>Tür Analizi &amp; Mevsimsel Gişe Trendleri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5029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D166"/>
                </a:solidFill>
              </a:defRPr>
            </a:pPr>
            <a:r>
              <a:t>Türlere Göre Ort. Hasılat (İlk 10):</a:t>
            </a:r>
          </a:p>
          <a:p>
            <a:pPr>
              <a:defRPr sz="1400" b="1">
                <a:solidFill>
                  <a:srgbClr val="64DD96"/>
                </a:solidFill>
              </a:defRPr>
            </a:pPr>
            <a:r>
              <a:t>1. Animation:       $276.5M</a:t>
            </a:r>
          </a:p>
          <a:p>
            <a:pPr>
              <a:defRPr sz="1300" b="0">
                <a:solidFill>
                  <a:srgbClr val="64DD96"/>
                </a:solidFill>
              </a:defRPr>
            </a:pPr>
            <a:r>
              <a:t>2. Adventure:       $244.2M</a:t>
            </a:r>
          </a:p>
          <a:p>
            <a:pPr>
              <a:defRPr sz="1300" b="0">
                <a:solidFill>
                  <a:srgbClr val="64DD96"/>
                </a:solidFill>
              </a:defRPr>
            </a:pPr>
            <a:r>
              <a:t>3. Fantasy:         $233.6M</a:t>
            </a:r>
          </a:p>
          <a:p>
            <a:pPr>
              <a:defRPr sz="1300" b="0">
                <a:solidFill>
                  <a:srgbClr val="E6EBF5"/>
                </a:solidFill>
              </a:defRPr>
            </a:pPr>
            <a:r>
              <a:t>4. Family:          $218.0M</a:t>
            </a:r>
          </a:p>
          <a:p>
            <a:pPr>
              <a:defRPr sz="1300" b="0">
                <a:solidFill>
                  <a:srgbClr val="E6EBF5"/>
                </a:solidFill>
              </a:defRPr>
            </a:pPr>
            <a:r>
              <a:t>5. Science Fiction: $185.8M</a:t>
            </a:r>
          </a:p>
          <a:p>
            <a:pPr>
              <a:defRPr sz="1300" b="0">
                <a:solidFill>
                  <a:srgbClr val="E6EBF5"/>
                </a:solidFill>
              </a:defRPr>
            </a:pPr>
            <a:r>
              <a:t>6. Action:          $173.4M</a:t>
            </a:r>
          </a:p>
          <a:p>
            <a:pPr>
              <a:defRPr sz="1300" b="0">
                <a:solidFill>
                  <a:srgbClr val="A0AAC3"/>
                </a:solidFill>
              </a:defRPr>
            </a:pPr>
            <a:r>
              <a:t>7. Thriller:        $107.7M</a:t>
            </a:r>
          </a:p>
          <a:p>
            <a:pPr>
              <a:defRPr sz="1300" b="0">
                <a:solidFill>
                  <a:srgbClr val="A0AAC3"/>
                </a:solidFill>
              </a:defRPr>
            </a:pPr>
            <a:r>
              <a:t>8. Comedy:          $104.6M</a:t>
            </a:r>
          </a:p>
          <a:p>
            <a:pPr>
              <a:defRPr sz="1300" b="0">
                <a:solidFill>
                  <a:srgbClr val="A0AAC3"/>
                </a:solidFill>
              </a:defRPr>
            </a:pPr>
            <a:r>
              <a:t>9. Mystery:         $101.7M</a:t>
            </a:r>
          </a:p>
          <a:p>
            <a:pPr>
              <a:defRPr sz="1300" b="0">
                <a:solidFill>
                  <a:srgbClr val="A0AAC3"/>
                </a:solidFill>
              </a:defRPr>
            </a:pPr>
            <a:r>
              <a:t>10. War:             $99.3M</a:t>
            </a:r>
          </a:p>
          <a:p>
            <a:pPr>
              <a:defRPr sz="1300" b="0">
                <a:solidFill>
                  <a:srgbClr val="A0AAC3"/>
                </a:solidFill>
              </a:defRPr>
            </a:pPr>
            <a:endParaRPr/>
          </a:p>
          <a:p>
            <a:pPr>
              <a:defRPr sz="1500" b="1">
                <a:solidFill>
                  <a:srgbClr val="FFD166"/>
                </a:solidFill>
              </a:defRPr>
            </a:pPr>
            <a:r>
              <a:t>Mevsimsellik:</a:t>
            </a:r>
          </a:p>
          <a:p>
            <a:pPr>
              <a:defRPr sz="1300" b="0">
                <a:solidFill>
                  <a:srgbClr val="E6EBF5"/>
                </a:solidFill>
              </a:defRPr>
            </a:pPr>
            <a:r>
              <a:t>Yaz ayları (Haziran, Temmuz) ve Kış tatilleri (Aralık)</a:t>
            </a:r>
          </a:p>
          <a:p>
            <a:pPr>
              <a:defRPr sz="1300" b="0">
                <a:solidFill>
                  <a:srgbClr val="E6EBF5"/>
                </a:solidFill>
              </a:defRPr>
            </a:pPr>
            <a:r>
              <a:t>en yüksek ortalama hasılatı barındırır.</a:t>
            </a:r>
          </a:p>
          <a:p>
            <a:pPr>
              <a:defRPr sz="1400" b="1">
                <a:solidFill>
                  <a:srgbClr val="64DD96"/>
                </a:solidFill>
              </a:defRPr>
            </a:pPr>
            <a:r>
              <a:t>En yüksek aylık hasılat: HAZİRAN</a:t>
            </a:r>
          </a:p>
          <a:p>
            <a:pPr>
              <a:defRPr sz="1200" b="0">
                <a:solidFill>
                  <a:srgbClr val="A0AAC3"/>
                </a:solidFill>
              </a:defRPr>
            </a:pPr>
            <a:r>
              <a:t>Geniş kitlelere hitap eden türler bu dönemlerde</a:t>
            </a:r>
          </a:p>
          <a:p>
            <a:pPr>
              <a:defRPr sz="1200" b="0">
                <a:solidFill>
                  <a:srgbClr val="A0AAC3"/>
                </a:solidFill>
              </a:defRPr>
            </a:pPr>
            <a:r>
              <a:t>pazara çıkarak maksimum erişim sağlamaktadır.</a:t>
            </a:r>
          </a:p>
        </p:txBody>
      </p:sp>
      <p:pic>
        <p:nvPicPr>
          <p:cNvPr id="4" name="Picture 3" descr="tur_vs_hasil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777240"/>
            <a:ext cx="3200400" cy="2133600"/>
          </a:xfrm>
          <a:prstGeom prst="rect">
            <a:avLst/>
          </a:prstGeom>
        </p:spPr>
      </p:pic>
      <p:pic>
        <p:nvPicPr>
          <p:cNvPr id="5" name="Picture 4" descr="aylik_hasilat_mevsimselli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777240"/>
            <a:ext cx="3200400" cy="1920240"/>
          </a:xfrm>
          <a:prstGeom prst="rect">
            <a:avLst/>
          </a:prstGeom>
        </p:spPr>
      </p:pic>
      <p:pic>
        <p:nvPicPr>
          <p:cNvPr id="6" name="Picture 5" descr="yillik_hasilat_trend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3931920"/>
            <a:ext cx="3200400" cy="1371600"/>
          </a:xfrm>
          <a:prstGeom prst="rect">
            <a:avLst/>
          </a:prstGeom>
        </p:spPr>
      </p:pic>
      <p:pic>
        <p:nvPicPr>
          <p:cNvPr id="7" name="Picture 6" descr="yillik_film_sayisi_trend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3931920"/>
            <a:ext cx="32004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9144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8CAE4"/>
                </a:solidFill>
              </a:defRPr>
            </a:pPr>
            <a:r>
              <a:t>Sektörün Liderleri: Oyuncu · Yönetmen · Şirket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5029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D166"/>
                </a:solidFill>
              </a:defRPr>
            </a:pPr>
            <a:r>
              <a:t>En Çok Hasılat Getiren Oyuncu:</a:t>
            </a:r>
          </a:p>
          <a:p>
            <a:pPr>
              <a:defRPr sz="1500" b="1">
                <a:solidFill>
                  <a:srgbClr val="64DD96"/>
                </a:solidFill>
              </a:defRPr>
            </a:pPr>
            <a:r>
              <a:t>Stan Lee  →  $17,364,063,582  toplam hasılat</a:t>
            </a:r>
          </a:p>
          <a:p>
            <a:pPr>
              <a:defRPr sz="1200" b="0">
                <a:solidFill>
                  <a:srgbClr val="A0AAC3"/>
                </a:solidFill>
              </a:defRPr>
            </a:pPr>
            <a:r>
              <a:t>(Marvel evren bağlantısı liderliğinin temel nedeni)</a:t>
            </a:r>
          </a:p>
          <a:p>
            <a:pPr>
              <a:defRPr sz="1300" b="0">
                <a:solidFill>
                  <a:srgbClr val="A0AAC3"/>
                </a:solidFill>
              </a:defRPr>
            </a:pPr>
            <a:endParaRPr/>
          </a:p>
          <a:p>
            <a:pPr>
              <a:defRPr sz="1500" b="1">
                <a:solidFill>
                  <a:srgbClr val="FFD166"/>
                </a:solidFill>
              </a:defRPr>
            </a:pPr>
            <a:r>
              <a:t>En Çok Hasılat Getiren Yönetmen:</a:t>
            </a:r>
          </a:p>
          <a:p>
            <a:pPr>
              <a:defRPr sz="1500" b="1">
                <a:solidFill>
                  <a:srgbClr val="64DD96"/>
                </a:solidFill>
              </a:defRPr>
            </a:pPr>
            <a:r>
              <a:t>Steven Spielberg  →  $9,147,393,164</a:t>
            </a:r>
          </a:p>
          <a:p>
            <a:pPr>
              <a:defRPr sz="1200" b="0">
                <a:solidFill>
                  <a:srgbClr val="A0AAC3"/>
                </a:solidFill>
              </a:defRPr>
            </a:pPr>
            <a:r>
              <a:t>(Uzun ve istikrarlı filmografi etkisi)</a:t>
            </a:r>
          </a:p>
          <a:p>
            <a:pPr>
              <a:defRPr sz="1300" b="0">
                <a:solidFill>
                  <a:srgbClr val="A0AAC3"/>
                </a:solidFill>
              </a:defRPr>
            </a:pPr>
            <a:endParaRPr/>
          </a:p>
          <a:p>
            <a:pPr>
              <a:defRPr sz="1500" b="1">
                <a:solidFill>
                  <a:srgbClr val="FFD166"/>
                </a:solidFill>
              </a:defRPr>
            </a:pPr>
            <a:r>
              <a:t>En Çok Hasılat Getiren Şirket:</a:t>
            </a:r>
          </a:p>
          <a:p>
            <a:pPr>
              <a:defRPr sz="1500" b="1">
                <a:solidFill>
                  <a:srgbClr val="64DD96"/>
                </a:solidFill>
              </a:defRPr>
            </a:pPr>
            <a:r>
              <a:t>Warner Bros.  →  $49,155,747,874</a:t>
            </a:r>
          </a:p>
          <a:p>
            <a:pPr>
              <a:defRPr sz="1200" b="0">
                <a:solidFill>
                  <a:srgbClr val="A0AAC3"/>
                </a:solidFill>
              </a:defRPr>
            </a:pPr>
            <a:r>
              <a:t>(Franchise portföyünün gücü: DC, Harry Potter, Looney Tunes)</a:t>
            </a:r>
          </a:p>
          <a:p>
            <a:pPr>
              <a:defRPr sz="1300" b="0">
                <a:solidFill>
                  <a:srgbClr val="A0AAC3"/>
                </a:solidFill>
              </a:defRPr>
            </a:pPr>
            <a:endParaRPr/>
          </a:p>
          <a:p>
            <a:pPr>
              <a:defRPr sz="1400" b="1">
                <a:solidFill>
                  <a:srgbClr val="FFD166"/>
                </a:solidFill>
              </a:defRPr>
            </a:pPr>
            <a:r>
              <a:t>Çıkarım:</a:t>
            </a:r>
          </a:p>
          <a:p>
            <a:pPr>
              <a:defRPr sz="1300" b="0">
                <a:solidFill>
                  <a:srgbClr val="E6EBF5"/>
                </a:solidFill>
              </a:defRPr>
            </a:pPr>
            <a:r>
              <a:t>Sektörde kazananlar rastgele oluşmaz; franchise</a:t>
            </a:r>
          </a:p>
          <a:p>
            <a:pPr>
              <a:defRPr sz="1200" b="0">
                <a:solidFill>
                  <a:srgbClr val="A0AAC3"/>
                </a:solidFill>
              </a:defRPr>
            </a:pPr>
            <a:r>
              <a:t>varlığı, marka değeri ve dağıtım ağı belirleyicidir.</a:t>
            </a:r>
          </a:p>
        </p:txBody>
      </p:sp>
      <p:pic>
        <p:nvPicPr>
          <p:cNvPr id="4" name="Picture 3" descr="oyuncu_hasilat_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777240"/>
            <a:ext cx="3200400" cy="1600200"/>
          </a:xfrm>
          <a:prstGeom prst="rect">
            <a:avLst/>
          </a:prstGeom>
        </p:spPr>
      </p:pic>
      <p:pic>
        <p:nvPicPr>
          <p:cNvPr id="5" name="Picture 4" descr="yonetmen_hasilat_top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777240"/>
            <a:ext cx="3200400" cy="1600200"/>
          </a:xfrm>
          <a:prstGeom prst="rect">
            <a:avLst/>
          </a:prstGeom>
        </p:spPr>
      </p:pic>
      <p:pic>
        <p:nvPicPr>
          <p:cNvPr id="6" name="Picture 5" descr="sirket_hasilat_top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3931920"/>
            <a:ext cx="3200400" cy="1600200"/>
          </a:xfrm>
          <a:prstGeom prst="rect">
            <a:avLst/>
          </a:prstGeom>
        </p:spPr>
      </p:pic>
      <p:pic>
        <p:nvPicPr>
          <p:cNvPr id="7" name="Picture 6" descr="en_cok_kar_edenl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3931920"/>
            <a:ext cx="3200400" cy="213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617</Words>
  <Application>Microsoft Office PowerPoint</Application>
  <PresentationFormat>Özel</PresentationFormat>
  <Paragraphs>93</Paragraphs>
  <Slides>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6177</cp:lastModifiedBy>
  <cp:revision>4</cp:revision>
  <dcterms:created xsi:type="dcterms:W3CDTF">2013-01-27T09:14:16Z</dcterms:created>
  <dcterms:modified xsi:type="dcterms:W3CDTF">2026-05-04T09:22:11Z</dcterms:modified>
  <cp:category/>
</cp:coreProperties>
</file>